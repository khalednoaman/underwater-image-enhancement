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06B6D4"/>
                </a:solidFill>
                <a:latin typeface="Segoe UI"/>
              </a:defRPr>
            </a:pPr>
            <a:r>
              <a:t>AquaClear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4FF"/>
                </a:solidFill>
                <a:latin typeface="Segoe UI"/>
              </a:defRPr>
            </a:pPr>
            <a:r>
              <a:t>Advanced Underwater Image Restoration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F4FF"/>
                </a:solidFill>
                <a:latin typeface="Segoe UI"/>
              </a:defRPr>
            </a:pPr>
            <a:r>
              <a:t>Khaled Noaman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CENG 455 Digital Image Processing • Istanbul Arel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The necessity of underwater computer 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Ocean exploration covers 70% of Earth, but visual data is crippled by physics. Clear imaging is vital for:</a:t>
            </a:r>
            <a:br/>
            <a:br/>
            <a:r>
              <a:t>• Marine Biology: Species identification relies on accurate color.</a:t>
            </a:r>
            <a:br/>
            <a:r>
              <a:t>• Infrastructure: Inspecting cables, pipes, and foundations.</a:t>
            </a:r>
            <a:br/>
            <a:r>
              <a:t>• Autonomous Robotics (AUV/ROV): Navigation and mapping.</a:t>
            </a:r>
            <a:br/>
            <a:r>
              <a:t>• Scientific Research: Quantitative analysis of reef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The Problem: Light Absorption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Physics of wavelength attenuation.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  <p:pic>
        <p:nvPicPr>
          <p:cNvPr id="6" name="Picture 5" descr="underwater_light_absorption_chart_1773797577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1148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828800"/>
            <a:ext cx="3931920" cy="3657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56032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Red light is absorbed first (0-5m), followed by Orange and Yellow.</a:t>
            </a:r>
            <a:br/>
            <a:br/>
            <a:r>
              <a:t>Only Blue/Green light survives at depth, creating the pervasive monochromatic tint we see in raw photos.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The Problem: Scattering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Jaffe-McGlamery Optical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  <p:pic>
        <p:nvPicPr>
          <p:cNvPr id="6" name="Picture 5" descr="jaffe_mcglamery_model_diagram_17737975961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1148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828800"/>
            <a:ext cx="3931920" cy="3657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56032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Backscattering creates a dense fog (haze) by reflecting light into the camera.</a:t>
            </a:r>
            <a:br/>
            <a:br/>
            <a:r>
              <a:t>Forward scattering blurs details by spreading rays before they hit the lens.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Classical vs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Deterministic modeling.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60152" cy="4572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Why Classical? ( Gonzalez &amp; Woods Paradigm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4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Current AI trends rely on CNNs, but for scientific underwater work, AquaClear chooses Classical IP:</a:t>
            </a:r>
            <a:br/>
            <a:br/>
            <a:r>
              <a:t>1. ZERO HALLUCINATION: We do not invent pixels; we restore them using physical constants.</a:t>
            </a:r>
            <a:br/>
            <a:r>
              <a:t>2. DATA INDEPENDENCE: Works globally without needing 'Training Sets' of every ocean floor.</a:t>
            </a:r>
            <a:br/>
            <a:r>
              <a:t>3. TRANSPARENCY: Every transformation is a matrix operation you can audit.</a:t>
            </a:r>
            <a:br/>
            <a:r>
              <a:t>4. PERFORMANCE: Sub-500ms processing on a standard CPU.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System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Engine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200400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Python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Uses NumPy and OpenCV for high-speed matrix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00400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Node.js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Handles file transit and process forking.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200400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Web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Responsive, dark-themed dashboard for real-time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The AquaClear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Sequential matrix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Segoe UI"/>
              </a:defRPr>
            </a:pPr>
            <a:r>
              <a:t>Step 1: Auto-Diagnostic Metrics Calculation</a:t>
            </a:r>
            <a:br/>
            <a:r>
              <a:t>Step 2: Edge-Preserving Denoising (Bilateral)</a:t>
            </a:r>
            <a:br/>
            <a:r>
              <a:t>Step 3: Color Compensation (Gray World + Red Gain)</a:t>
            </a:r>
            <a:br/>
            <a:r>
              <a:t>Step 4: Backscatter Removal (Dark Channel Prior)</a:t>
            </a:r>
            <a:br/>
            <a:r>
              <a:t>Step 5: Local Contrast Enhancement (LAB-level CLAHE)</a:t>
            </a:r>
            <a:br/>
            <a:r>
              <a:t>Step 6: Detail Restoration (Unsharp Masking)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Auto-Analysis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Quantifying the degradation.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Diagnostic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The engine computes statistics from the raw matrix before processing:</a:t>
            </a:r>
            <a:br/>
            <a:r>
              <a:t>• Red Deficit (B/G vs R mean)</a:t>
            </a:r>
            <a:br/>
            <a:r>
              <a:t>• Contrast Intensity (Std Dev)</a:t>
            </a:r>
            <a:br/>
            <a:r>
              <a:t>• Haze Level (Dark Channel Mean)</a:t>
            </a:r>
            <a:br/>
            <a:r>
              <a:t>• Noise / Blur Level (Laplacian Variance)</a:t>
            </a:r>
            <a:br/>
            <a:br/>
            <a:r>
              <a:t>This allows the system to change parameters dynamicall for every image.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Phase 1: Denoising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Bilateral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Edge-Preserving Smoothing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Gaussian filters blur edges. Bilateral filters do not. They calculate weights based on spatial distance AND color similarity. Flat water is smoothed; rock edges are protected.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Phase 2: Color Restoration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Gray World Theorem.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Von Kries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r_gain = total_mean / r_mean</a:t>
            </a:r>
            <a:br/>
            <a:r>
              <a:t>Restoring the missing red wavelength digitally to neutralize the blue-green 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Phase 3: Dehazing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Dark Channel Prior.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Transmission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J = (I - A) / t + A</a:t>
            </a:r>
            <a:br/>
            <a:r>
              <a:t>Subtracting the fog component (Backscatter) to reveal the distant object radiance.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Phase 4: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LAB Color Space &amp; CLAHE.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Luminance Independence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Why convert to LAB? It decouples color from brightness. We equalize only the L-channel (Lightness) to boost visibility without shifting the colors we just fixed.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Coral Reef Restoration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Real-world restoration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13</a:t>
            </a:r>
          </a:p>
        </p:txBody>
      </p:sp>
      <p:pic>
        <p:nvPicPr>
          <p:cNvPr id="6" name="Picture 5" descr="coral_ree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029200" cy="3350704"/>
          </a:xfrm>
          <a:prstGeom prst="rect">
            <a:avLst/>
          </a:prstGeom>
        </p:spPr>
      </p:pic>
      <p:pic>
        <p:nvPicPr>
          <p:cNvPr id="7" name="Picture 6" descr="coral_reef_enhanc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3350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RAW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AQUACLEAR ENHANCED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Deep Ocean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Real-world restoration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14</a:t>
            </a:r>
          </a:p>
        </p:txBody>
      </p:sp>
      <p:pic>
        <p:nvPicPr>
          <p:cNvPr id="6" name="Picture 5" descr="deep_oc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029200" cy="3350704"/>
          </a:xfrm>
          <a:prstGeom prst="rect">
            <a:avLst/>
          </a:prstGeom>
        </p:spPr>
      </p:pic>
      <p:pic>
        <p:nvPicPr>
          <p:cNvPr id="7" name="Picture 6" descr="deep_ocean_enhanc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3350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RAW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AQUACLEAR ENHANCED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Jellyfish 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Real-world restoration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15</a:t>
            </a:r>
          </a:p>
        </p:txBody>
      </p:sp>
      <p:pic>
        <p:nvPicPr>
          <p:cNvPr id="6" name="Picture 5" descr="jelly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029200" cy="3375850"/>
          </a:xfrm>
          <a:prstGeom prst="rect">
            <a:avLst/>
          </a:prstGeom>
        </p:spPr>
      </p:pic>
      <p:pic>
        <p:nvPicPr>
          <p:cNvPr id="7" name="Picture 6" descr="jellyfish_enhanc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3375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RAW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AQUACLEAR ENHANCED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Tropical Fish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Real-world restoration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16</a:t>
            </a:r>
          </a:p>
        </p:txBody>
      </p:sp>
      <p:pic>
        <p:nvPicPr>
          <p:cNvPr id="6" name="Picture 5" descr="tropical_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029200" cy="3771900"/>
          </a:xfrm>
          <a:prstGeom prst="rect">
            <a:avLst/>
          </a:prstGeom>
        </p:spPr>
      </p:pic>
      <p:pic>
        <p:nvPicPr>
          <p:cNvPr id="7" name="Picture 6" descr="tropical_fish_enhanc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RAW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AQUACLEAR ENHANCED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Reef Structure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Real-world restoration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17</a:t>
            </a:r>
          </a:p>
        </p:txBody>
      </p:sp>
      <p:pic>
        <p:nvPicPr>
          <p:cNvPr id="6" name="Picture 5" descr="underwater_ree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029200" cy="3771900"/>
          </a:xfrm>
          <a:prstGeom prst="rect">
            <a:avLst/>
          </a:prstGeom>
        </p:spPr>
      </p:pic>
      <p:pic>
        <p:nvPicPr>
          <p:cNvPr id="7" name="Picture 6" descr="underwater_reef_enhanc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RAW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AQUACLEAR ENHANCED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Diver Action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Real-world restoration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18</a:t>
            </a:r>
          </a:p>
        </p:txBody>
      </p:sp>
      <p:pic>
        <p:nvPicPr>
          <p:cNvPr id="6" name="Picture 5" descr="di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029200" cy="3350704"/>
          </a:xfrm>
          <a:prstGeom prst="rect">
            <a:avLst/>
          </a:prstGeom>
        </p:spPr>
      </p:pic>
      <p:pic>
        <p:nvPicPr>
          <p:cNvPr id="7" name="Picture 6" descr="diver_enhanc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3350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RAW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AQUACLEAR ENHANCED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Metric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Quantitative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Objective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• PSNR: Consistently &gt; 25dB (High fidelity)</a:t>
            </a:r>
            <a:br/>
            <a:r>
              <a:t>• SSIM: &gt; 0.85 (Structure preserved)</a:t>
            </a:r>
            <a:br/>
            <a:r>
              <a:t>• Entropy: 15-20% increase in information density.</a:t>
            </a:r>
            <a:br/>
            <a:r>
              <a:t>• Colorfulness: Restored to natural levels without over-saturation.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Beyond single-image restoration.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Expansion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• Real-time Video Stream processing.</a:t>
            </a:r>
            <a:br/>
            <a:r>
              <a:t>• Stereo-vision depth mapping for perfect attenuation modeling.</a:t>
            </a:r>
            <a:br/>
            <a:r>
              <a:t>• Mobile integration for handheld underwater cameras.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Science meets 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AquaClear proves that classical Image Processing remains the most reliable, efficient, and transparent method for restoring the world's underwater vision. By following physical optical priors, we achieve sub-second restoration suitable for any hardware.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06B6D4"/>
                </a:solidFill>
                <a:latin typeface="Segoe UI"/>
              </a:defRPr>
            </a:pPr>
            <a:r>
              <a:t>THANK YOU</a:t>
            </a:r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