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jpg"/><Relationship Id="rId4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jpg"/><Relationship Id="rId4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title_background_17743177623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875520" y="-182880"/>
            <a:ext cx="2560320" cy="256032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663440"/>
            <a:ext cx="1280160" cy="128016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57200"/>
            <a:ext cx="914400" cy="91440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48640" y="3931920"/>
            <a:ext cx="2194560" cy="219456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8229600" cy="3200400"/>
          </a:xfrm>
          <a:prstGeom prst="roundRect">
            <a:avLst/>
          </a:prstGeom>
          <a:solidFill>
            <a:srgbClr val="00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06B6D4"/>
                </a:solidFill>
                <a:latin typeface="Georgia"/>
              </a:rPr>
              <a:t>AquaClear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FDBE8"/>
                </a:solidFill>
                <a:latin typeface="Georgia"/>
              </a:rPr>
              <a:t>Underwater Image Restoration &amp; Enhancement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43400"/>
            <a:ext cx="457200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CENG 455 – Digital Image Processing  ·  Istanbul Arel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Khaled Noaman  ·  200303812  ·  Spring 2026</a:t>
            </a:r>
          </a:p>
        </p:txBody>
      </p:sp>
      <p:pic>
        <p:nvPicPr>
          <p:cNvPr id="16" name="Picture 15" descr="coral_ree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914400"/>
            <a:ext cx="28346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-182880"/>
            <a:ext cx="2011680" cy="2011680"/>
          </a:xfrm>
          <a:prstGeom prst="ellipse">
            <a:avLst/>
          </a:prstGeom>
          <a:noFill/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5394960"/>
            <a:ext cx="1097280" cy="109728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6400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71907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Physics of underwater light degradation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194560"/>
            <a:ext cx="7772400" cy="25400"/>
          </a:xfrm>
          <a:prstGeom prst="rect">
            <a:avLst/>
          </a:prstGeom>
          <a:solidFill>
            <a:srgbClr val="7FA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22576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3225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Main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6700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The AquaClear Processing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145536"/>
            <a:ext cx="7772400" cy="25400"/>
          </a:xfrm>
          <a:prstGeom prst="rect">
            <a:avLst/>
          </a:prstGeom>
          <a:solidFill>
            <a:srgbClr val="7FA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7355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273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62102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Visual Before &amp; After Comparisons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4096512"/>
            <a:ext cx="7772400" cy="25400"/>
          </a:xfrm>
          <a:prstGeom prst="rect">
            <a:avLst/>
          </a:prstGeom>
          <a:solidFill>
            <a:srgbClr val="7FA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245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24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572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Key Takeaways and Future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5047488"/>
            <a:ext cx="7772400" cy="25400"/>
          </a:xfrm>
          <a:prstGeom prst="rect">
            <a:avLst/>
          </a:prstGeom>
          <a:solidFill>
            <a:srgbClr val="7FA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75504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1755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52297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Academic 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5998464"/>
            <a:ext cx="7772400" cy="25400"/>
          </a:xfrm>
          <a:prstGeom prst="rect">
            <a:avLst/>
          </a:prstGeom>
          <a:solidFill>
            <a:srgbClr val="7FA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i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57200"/>
            <a:ext cx="2468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8869680" y="-274320"/>
            <a:ext cx="3291840" cy="329184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4937760"/>
            <a:ext cx="1463040" cy="146304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777240"/>
            <a:ext cx="640080" cy="64008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6B6D4"/>
                </a:solidFill>
                <a:latin typeface="Georgia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36576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E8"/>
                </a:solidFill>
                <a:latin typeface="Segoe UI"/>
              </a:rPr>
              <a:t>The physics of underwater light degradation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0332720" y="4846320"/>
            <a:ext cx="2743200" cy="274320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" y="91440"/>
            <a:ext cx="731520" cy="73152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Why Underwater Images Are Degraded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60120"/>
            <a:ext cx="59436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943600" cy="141732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45920"/>
            <a:ext cx="320040" cy="3200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Segoe UI"/>
              </a:rPr>
              <a:t>Color Attenuation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37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Red light (650nm) is completely absorbed within just 3–5m of depth. Only blue/green light survives, creating the pervasive cyan cast seen in all raw underwater photos.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5943600" cy="141732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20040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Segoe UI"/>
              </a:rPr>
              <a:t>Backscattering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Ambient light reflects off suspended particles (marine snow, plankton) directly into the camera lens, creating a dense gray-blue fog that eliminates visibility.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5943600" cy="141732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754880"/>
            <a:ext cx="320040" cy="32004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34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egoe UI"/>
              </a:rPr>
              <a:t>Forward Scattering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46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Light reflecting off the subject is scattered by particles before reaching the lens, blurring edges and destroying high-frequency details.</a:t>
            </a:r>
          </a:p>
        </p:txBody>
      </p:sp>
      <p:pic>
        <p:nvPicPr>
          <p:cNvPr id="21" name="Picture 20" descr="underwater_light_absorption_chart_17737975772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00584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Jaffe-McGlamery Optical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6400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E8"/>
                </a:solidFill>
                <a:latin typeface="Segoe UI"/>
              </a:rPr>
              <a:t>The dominant model for underwater image formation states that the radiance captured by a camera sensor is the sum of three physical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egoe UI"/>
              </a:rPr>
              <a:t>E_total = E_direct + E_forward_scatter + E_backscatter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30352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Segoe UI"/>
              </a:rPr>
              <a:t>Direct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Unscattered light from the object — the 'true' signal we want.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530352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044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A261"/>
                </a:solidFill>
                <a:latin typeface="Segoe UI"/>
              </a:rPr>
              <a:t>Forward Scatter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Deflected signal rays causing blur at the subject level.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37760"/>
            <a:ext cx="5303520" cy="25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017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Segoe UI"/>
              </a:rPr>
              <a:t>Backscatter (Haze)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Ambient particles deflecting light directly into the lens as fog.</a:t>
            </a:r>
          </a:p>
        </p:txBody>
      </p:sp>
      <p:pic>
        <p:nvPicPr>
          <p:cNvPr id="18" name="Picture 17" descr="jaffe_mcglamery_model_diagram_17737975961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05840"/>
            <a:ext cx="53949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182880"/>
            <a:ext cx="1828800" cy="1828800"/>
          </a:xfrm>
          <a:prstGeom prst="ellipse">
            <a:avLst/>
          </a:prstGeom>
          <a:noFill/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Classical IP vs Deep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6400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212080" cy="5029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Segoe UI"/>
              </a:rPr>
              <a:t>Classical Image Processing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12080" cy="5029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A261"/>
                </a:solidFill>
                <a:latin typeface="Segoe UI"/>
              </a:rPr>
              <a:t>Deep Learning / CNNs 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✓ Zero hallucinations — no invented pixels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✗ Frequently hallucinates textures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✓ Needs no training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✗ Requires huge paired raw/clear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✓ Fully transparent and mathematically 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747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✗ Black-box, unexplainable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✓ &lt; 0.5 sec on CPU, no GPU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✗ Requires GPU, minutes per 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✓ Safe for scientific measurement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✗ Risky for biological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8869680" y="-274320"/>
            <a:ext cx="3291840" cy="329184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4937760"/>
            <a:ext cx="1463040" cy="146304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777240"/>
            <a:ext cx="640080" cy="64008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6B6D4"/>
                </a:solidFill>
                <a:latin typeface="Georgia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36576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Main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E8"/>
                </a:solidFill>
                <a:latin typeface="Segoe UI"/>
              </a:rPr>
              <a:t>The AquaClear Processing Pipeline — Step by 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8</a:t>
            </a:r>
          </a:p>
        </p:txBody>
      </p:sp>
      <p:sp>
        <p:nvSpPr>
          <p:cNvPr id="5" name="Oval 4"/>
          <p:cNvSpPr/>
          <p:nvPr/>
        </p:nvSpPr>
        <p:spPr>
          <a:xfrm>
            <a:off x="10241280" y="4480560"/>
            <a:ext cx="2377440" cy="237744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AquaClear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6400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394960" cy="1600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Segoe UI"/>
              </a:rPr>
              <a:t>Auto-Analysis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830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Scans the image matrix to detect blur, haze, and color deficit levels, then sets optimal parameters.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5394960" cy="1600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A261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Segoe UI"/>
              </a:rPr>
              <a:t>Noise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204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Non-linear Bilateral Filter selectively smooths flat areas while protecting sharp edges.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5394960" cy="1600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166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egoe UI"/>
              </a:rPr>
              <a:t>Color Correction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578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Gray World Theorem scales the Red channel gain to neutralize the blue-green cast.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188720"/>
            <a:ext cx="5394960" cy="1600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Segoe UI"/>
              </a:rPr>
              <a:t>Dehazing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7830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Dark Channel Prior estimates &amp; subtracts backscattered transmission fog.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926080"/>
            <a:ext cx="5394960" cy="1600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A261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Segoe UI"/>
              </a:rPr>
              <a:t>Contrast (CLAHE)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5204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Adapative Histogram Equalization on the L channel of LAB color space.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663440"/>
            <a:ext cx="5394960" cy="1600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754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166"/>
                </a:solidFill>
                <a:latin typeface="Georgia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egoe UI"/>
              </a:rPr>
              <a:t>Sharpening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2578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E8"/>
                </a:solidFill>
                <a:latin typeface="Segoe UI"/>
              </a:rPr>
              <a:t>Unsharp Masking boosts high-frequency edge data to restore detail lost to forward scattering.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Phase 1: Auto-Analysis Heuristics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59436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E8"/>
                </a:solidFill>
                <a:latin typeface="Segoe UI"/>
              </a:rPr>
              <a:t>Static pipelines fail because every ocean differs. AquaClear dynamically calibrates for each image: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822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Segoe UI"/>
              </a:rPr>
              <a:t>Red Deficit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b_mean - r_mean → if &gt; 30: aggressive color correction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Segoe UI"/>
              </a:rPr>
              <a:t>Haze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558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Dark Channel Mean / 255 → if &gt; 0.4: omega = 0.98 (dense fog)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73152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Segoe UI"/>
              </a:rPr>
              <a:t>Blur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Laplacian Variance → if &lt; 100: switch to NL-Means + heavy sharpening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20640"/>
            <a:ext cx="73152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Segoe UI"/>
              </a:rPr>
              <a:t>Contrast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504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Grayscale Std Dev → if &lt; 20: CLAHE Clip = 5.0 (very low contrast)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Phase 3: Color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45720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E8"/>
                </a:solidFill>
                <a:latin typeface="Segoe UI"/>
              </a:rPr>
              <a:t>Gray World Theorem: In a scene with diversity, average R = G = B = Gray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486400" cy="2286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Segoe UI"/>
              </a:rPr>
              <a:t>Algorithm: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  <a:latin typeface="Segoe UI"/>
              </a:rPr>
              <a:t>r_mean, g_mean, b_mean = mean of each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  <a:latin typeface="Segoe UI"/>
              </a:rPr>
              <a:t>total_mean = (r_mean + g_mean + b_mean) /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912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  <a:latin typeface="Segoe UI"/>
              </a:rPr>
              <a:t>r_gain = total_mean / r_mean  ← (boosts 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753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  <a:latin typeface="Segoe UI"/>
              </a:rPr>
              <a:t>R_corrected = clip(R * r_gain, 0, 255)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This single operation removes the dominant cyan tint by digitally restoring the wavelengths that water physically absorbed. Without it, the dehazing step cannot function correctly.</a:t>
            </a:r>
          </a:p>
        </p:txBody>
      </p:sp>
      <p:pic>
        <p:nvPicPr>
          <p:cNvPr id="15" name="Picture 14" descr="tropical_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0584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Phase 4: Dark Channel Prior Dehazing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54864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6583680" cy="1143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Compute Dark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Segoe UI"/>
              </a:rPr>
              <a:t>D(x) = min of pixel across all 3 channels in a local 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6583680" cy="1143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Segoe U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Estimate Atmospheric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Segoe UI"/>
              </a:rPr>
              <a:t>Brightest 0.1% of pixels in the Dark Channel = Airlight (A)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6583680" cy="1143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Segoe UI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Calculate Transmission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0740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Segoe UI"/>
              </a:rPr>
              <a:t>t(x) = 1 – ω × min(I(y)/A)  |  ω controls strength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20640"/>
            <a:ext cx="6583680" cy="1143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212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Recover Scene Radiance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8756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  <a:latin typeface="Segoe UI"/>
              </a:rPr>
              <a:t>J(x) = (I(x) – A) / max(t(x), 0.1) + A</a:t>
            </a:r>
          </a:p>
        </p:txBody>
      </p:sp>
      <p:pic>
        <p:nvPicPr>
          <p:cNvPr id="23" name="Picture 22" descr="deep_oc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05840"/>
            <a:ext cx="4114800" cy="27414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Phase 5: CLAHE on LAB L-Channel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5029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94960" cy="50292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166"/>
                </a:solidFill>
                <a:latin typeface="Segoe UI"/>
              </a:rPr>
              <a:t>Why LAB color space?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LAB separates Luminance (L) from color (A, B channels).
Equilizing R, G, B independently shifts color ratios and creates false hues. Equalizing only L preserves the restored colors from Phase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00400"/>
            <a:ext cx="5029200" cy="25400"/>
          </a:xfrm>
          <a:prstGeom prst="rect">
            <a:avLst/>
          </a:prstGeom>
          <a:solidFill>
            <a:srgbClr val="7FA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6B6D4"/>
                </a:solidFill>
                <a:latin typeface="Segoe UI"/>
              </a:rPr>
              <a:t>Why CLAHE not Global HE?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Global HE stretches the entire image uniformly — in dark underwater scenes it creates massive noise artifacts in flat water regions.
CLAHE divides the image into 8×8 tiles and limits the histogram peak (Clip Limit), boosting local contrast while preventing noise explosion.</a:t>
            </a:r>
          </a:p>
        </p:txBody>
      </p:sp>
      <p:pic>
        <p:nvPicPr>
          <p:cNvPr id="13" name="Picture 12" descr="jelly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05840"/>
            <a:ext cx="5212080" cy="34986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13</a:t>
            </a:r>
          </a:p>
        </p:txBody>
      </p:sp>
      <p:sp>
        <p:nvSpPr>
          <p:cNvPr id="5" name="Oval 4"/>
          <p:cNvSpPr/>
          <p:nvPr/>
        </p:nvSpPr>
        <p:spPr>
          <a:xfrm>
            <a:off x="10332720" y="5029200"/>
            <a:ext cx="2743200" cy="274320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54864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3474720" cy="41148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Georgia"/>
              </a:rPr>
              <a:t>HTML/CSS/JS
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14600"/>
            <a:ext cx="301752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E8"/>
                </a:solidFill>
                <a:latin typeface="Segoe UI"/>
              </a:rPr>
              <a:t>Upload UI, Dark Mode, Before/After sliders, Metric gauges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175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7FADC2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80160"/>
            <a:ext cx="3474720" cy="41148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A261"/>
                </a:solidFill>
                <a:latin typeface="Georgia"/>
              </a:rPr>
              <a:t>Node.js
Express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514600"/>
            <a:ext cx="301752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6517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E8"/>
                </a:solidFill>
                <a:latin typeface="Segoe UI"/>
              </a:rPr>
              <a:t>Multi-part upload, child-process forking, JSON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0175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7FADC2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280160"/>
            <a:ext cx="3474720" cy="41148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  <a:latin typeface="Georgia"/>
              </a:rPr>
              <a:t>Python
IP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514600"/>
            <a:ext cx="3017520" cy="25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E8"/>
                </a:solidFill>
                <a:latin typeface="Segoe UI"/>
              </a:rPr>
              <a:t>NumPy / OpenCV matrix processing. All 6 pipeline phases.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14</a:t>
            </a:r>
          </a:p>
        </p:txBody>
      </p:sp>
      <p:sp>
        <p:nvSpPr>
          <p:cNvPr id="5" name="Oval 4"/>
          <p:cNvSpPr/>
          <p:nvPr/>
        </p:nvSpPr>
        <p:spPr>
          <a:xfrm>
            <a:off x="8869680" y="-274320"/>
            <a:ext cx="3291840" cy="329184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4937760"/>
            <a:ext cx="1463040" cy="146304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777240"/>
            <a:ext cx="640080" cy="64008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6B6D4"/>
                </a:solidFill>
                <a:latin typeface="Georgia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36576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E8"/>
                </a:solidFill>
                <a:latin typeface="Segoe UI"/>
              </a:rPr>
              <a:t>Visual Before &amp; After Restoration Comparisons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15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-182880"/>
            <a:ext cx="1645920" cy="164592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Results: Coral Reef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0972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ral_ree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30352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Segoe UI"/>
              </a:rPr>
              <a:t>BEFORE  –  Raw Underwater Input</a:t>
            </a:r>
          </a:p>
        </p:txBody>
      </p:sp>
      <p:pic>
        <p:nvPicPr>
          <p:cNvPr id="11" name="Picture 10" descr="coral_reef_enhanc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AFTER  –  AquaClear Enhanced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-182880"/>
            <a:ext cx="1645920" cy="164592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Results: Jellyfish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0972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elly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30352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Segoe UI"/>
              </a:rPr>
              <a:t>BEFORE  –  Raw Underwater Input</a:t>
            </a:r>
          </a:p>
        </p:txBody>
      </p:sp>
      <p:pic>
        <p:nvPicPr>
          <p:cNvPr id="11" name="Picture 10" descr="jellyfish_enhanc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AFTER  –  AquaClear Enhanced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17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-182880"/>
            <a:ext cx="1645920" cy="164592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Results: Deep Ocean Wreck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0972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ep_oc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30352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Segoe UI"/>
              </a:rPr>
              <a:t>BEFORE  –  Raw Underwater Input</a:t>
            </a:r>
          </a:p>
        </p:txBody>
      </p:sp>
      <p:pic>
        <p:nvPicPr>
          <p:cNvPr id="11" name="Picture 10" descr="deep_ocean_enhanc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AFTER  –  AquaClear Enhanced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18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-182880"/>
            <a:ext cx="1645920" cy="164592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Results: Tropical Fish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0972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opical_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30352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Segoe UI"/>
              </a:rPr>
              <a:t>BEFORE  –  Raw Underwater Input</a:t>
            </a:r>
          </a:p>
        </p:txBody>
      </p:sp>
      <p:pic>
        <p:nvPicPr>
          <p:cNvPr id="11" name="Picture 10" descr="tropical_fish_enhanc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AFTER  –  AquaClear Enhanced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19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-182880"/>
            <a:ext cx="1645920" cy="164592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Results: Underwater Reef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0972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derwater_ree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30352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Segoe UI"/>
              </a:rPr>
              <a:t>BEFORE  –  Raw Underwater Input</a:t>
            </a:r>
          </a:p>
        </p:txBody>
      </p:sp>
      <p:pic>
        <p:nvPicPr>
          <p:cNvPr id="11" name="Picture 10" descr="underwater_reef_enhanc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5806440"/>
            <a:ext cx="5303520" cy="594360"/>
          </a:xfrm>
          <a:prstGeom prst="roundRect">
            <a:avLst/>
          </a:prstGeom>
          <a:solidFill>
            <a:srgbClr val="003D5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897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AFTER  –  AquaClear Enhanced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20</a:t>
            </a:r>
          </a:p>
        </p:txBody>
      </p:sp>
      <p:sp>
        <p:nvSpPr>
          <p:cNvPr id="5" name="Oval 4"/>
          <p:cNvSpPr/>
          <p:nvPr/>
        </p:nvSpPr>
        <p:spPr>
          <a:xfrm>
            <a:off x="10241280" y="5029200"/>
            <a:ext cx="2377440" cy="2377440"/>
          </a:xfrm>
          <a:prstGeom prst="ellipse">
            <a:avLst/>
          </a:prstGeom>
          <a:noFill/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Objective Quality Evaluation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64008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212080" cy="2286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Georgia"/>
              </a:rPr>
              <a:t>PSNR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DBE8"/>
                </a:solidFill>
                <a:latin typeface="Segoe UI"/>
              </a:rPr>
              <a:t>Peak Signal-to-Noise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  <a:latin typeface="Segoe UI"/>
              </a:rPr>
              <a:t>10·log₁₀(MAX² / MSE)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34640"/>
            <a:ext cx="484632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44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20–35 dB  (Higher = Better Fidelity)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34440"/>
            <a:ext cx="5212080" cy="2286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25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A261"/>
                </a:solidFill>
                <a:latin typeface="Georgia"/>
              </a:rPr>
              <a:t>SSIM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DBE8"/>
                </a:solidFill>
                <a:latin typeface="Segoe UI"/>
              </a:rPr>
              <a:t>Structural Similarity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  <a:latin typeface="Segoe UI"/>
              </a:rPr>
              <a:t>Luminance × Contrast ×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834640"/>
            <a:ext cx="484632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944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0.80–0.95  (Higher = Less Distortion)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5212080" cy="2286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  <a:latin typeface="Georgia"/>
              </a:rPr>
              <a:t>Entropy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DBE8"/>
                </a:solidFill>
                <a:latin typeface="Segoe UI"/>
              </a:rPr>
              <a:t>Shannon Information Density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  <a:latin typeface="Segoe UI"/>
              </a:rPr>
              <a:t>–Σ P(i)·log₂P(i)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303520"/>
            <a:ext cx="4846320" cy="25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132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+15–25% increase (More scene detail)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703320"/>
            <a:ext cx="5212080" cy="228600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794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Georgia"/>
              </a:rPr>
              <a:t>Colorfulness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43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DBE8"/>
                </a:solidFill>
                <a:latin typeface="Segoe UI"/>
              </a:rPr>
              <a:t>C = √(σRG² + σYB²) + 0.3·√(μRG² + μYB²)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54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  <a:latin typeface="Segoe UI"/>
              </a:rPr>
              <a:t>Per-channel saturation variance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5303520"/>
            <a:ext cx="484632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4132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Strong increase vs raw cyan image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21</a:t>
            </a:r>
          </a:p>
        </p:txBody>
      </p:sp>
      <p:sp>
        <p:nvSpPr>
          <p:cNvPr id="5" name="Oval 4"/>
          <p:cNvSpPr/>
          <p:nvPr/>
        </p:nvSpPr>
        <p:spPr>
          <a:xfrm>
            <a:off x="8869680" y="-274320"/>
            <a:ext cx="3291840" cy="329184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4937760"/>
            <a:ext cx="1463040" cy="146304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777240"/>
            <a:ext cx="640080" cy="64008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6B6D4"/>
                </a:solidFill>
                <a:latin typeface="Georgia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36576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E8"/>
                </a:solidFill>
                <a:latin typeface="Segoe UI"/>
              </a:rPr>
              <a:t>Achievements, Limitations, and Future Directions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54864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80160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4300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Successfully engineered a full 6-phase classical image processing pipeline tailored to aquatic optics.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7627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3911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Achieved real-time restoration (&lt; 0.5 seconds) on standard CPU hardware — no GPU required.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72384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35224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Auto-analysis heuristic engine adaptively tunes all parameters per image, removing the need for manual tuning.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968496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31336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Objective metrics (PSNR, SSIM, Entropy) confirmed structural fidelity and genuine information recovery.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64608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E8"/>
                </a:solidFill>
                <a:latin typeface="Segoe UI"/>
              </a:rPr>
              <a:t>Wrapped the engine in a modern dark-themed web application with live Before/After visualization.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097280"/>
            <a:ext cx="4663440" cy="5120640"/>
          </a:xfrm>
          <a:prstGeom prst="roundRect">
            <a:avLst/>
          </a:prstGeom>
          <a:solidFill>
            <a:srgbClr val="002E4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234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A261"/>
                </a:solidFill>
                <a:latin typeface="Segoe UI"/>
              </a:rPr>
              <a:t>Limitations &amp; Future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737360"/>
            <a:ext cx="420624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8288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  <a:latin typeface="Segoe UI"/>
              </a:rPr>
              <a:t>Gray World fails on monochromatic single-subject shots.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54203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  <a:latin typeface="Segoe UI"/>
              </a:rPr>
              <a:t>DCP struggles with artificial dive lights.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55264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968496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Segoe UI"/>
              </a:rPr>
              <a:t>Future: Stereo depth mapping for per-pixel attenuation.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68172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Segoe UI"/>
              </a:rPr>
              <a:t>Future: CUDA port for live 60fps video telemetry.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394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Segoe UI"/>
              </a:rPr>
              <a:t>Future: Mobile deployment for handheld dive cams.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23</a:t>
            </a:r>
          </a:p>
        </p:txBody>
      </p:sp>
      <p:sp>
        <p:nvSpPr>
          <p:cNvPr id="5" name="Oval 4"/>
          <p:cNvSpPr/>
          <p:nvPr/>
        </p:nvSpPr>
        <p:spPr>
          <a:xfrm>
            <a:off x="8869680" y="-274320"/>
            <a:ext cx="3291840" cy="329184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4937760"/>
            <a:ext cx="1463040" cy="146304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777240"/>
            <a:ext cx="640080" cy="64008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6B6D4"/>
                </a:solidFill>
                <a:latin typeface="Georgia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36576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E8"/>
                </a:solidFill>
                <a:latin typeface="Segoe UI"/>
              </a:rPr>
              <a:t>Academic &amp; Technical Sources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section_accent_1774317780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24</a:t>
            </a:r>
          </a:p>
        </p:txBody>
      </p:sp>
      <p:sp>
        <p:nvSpPr>
          <p:cNvPr id="5" name="Oval 4"/>
          <p:cNvSpPr/>
          <p:nvPr/>
        </p:nvSpPr>
        <p:spPr>
          <a:xfrm>
            <a:off x="10332720" y="4846320"/>
            <a:ext cx="2194560" cy="2194560"/>
          </a:xfrm>
          <a:prstGeom prst="ellipse">
            <a:avLst/>
          </a:prstGeom>
          <a:noFill/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91440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972800" cy="25400"/>
          </a:xfrm>
          <a:prstGeom prst="rect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533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R. C. Gonzalez and R. E. Woods — Digital Image Processing, 4th 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Pearson, 2018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86000"/>
            <a:ext cx="10972800" cy="25400"/>
          </a:xfrm>
          <a:prstGeom prst="rect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3591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G. Bradski — The OpenCV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Dr. Dobb's Journal of Software Tools, 2000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10972800" cy="25400"/>
          </a:xfrm>
          <a:prstGeom prst="rect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6499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649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K. He, J. Sun, and X. Tang — Single Image Haze Removal Using Dark Channel Prior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94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IEEE Transactions on PAMI, 2011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10972800" cy="25400"/>
          </a:xfrm>
          <a:prstGeom prst="rect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708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[4]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708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J. S. Jaffe — Computer Modeling and Design of Optimal Underwater Imaging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00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IEEE Journal of Oceanic Engineering, 1990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03520"/>
            <a:ext cx="10972800" cy="25400"/>
          </a:xfrm>
          <a:prstGeom prst="rect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766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[5]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376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A. M. Reza — Realization of CLAHE for Real-Time Image Enhancement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ADC2"/>
                </a:solidFill>
                <a:latin typeface="Segoe UI"/>
              </a:rPr>
              <a:t>Journal of VLSI Signal Processing, 2004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title_background_17743177623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C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873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ADC2"/>
                </a:solidFill>
                <a:latin typeface="Segoe U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457200"/>
            <a:ext cx="2743200" cy="2743200"/>
          </a:xfrm>
          <a:prstGeom prst="ellipse">
            <a:avLst/>
          </a:prstGeom>
          <a:noFill/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0" y="5303520"/>
            <a:ext cx="1280160" cy="128016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303520"/>
            <a:ext cx="914400" cy="914400"/>
          </a:xfrm>
          <a:prstGeom prst="ellipse">
            <a:avLst/>
          </a:prstGeom>
          <a:noFill/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7772400" cy="3200400"/>
          </a:xfrm>
          <a:prstGeom prst="roundRect">
            <a:avLst/>
          </a:prstGeom>
          <a:solidFill>
            <a:srgbClr val="00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6B6D4"/>
                </a:solidFill>
                <a:latin typeface="Georgia"/>
              </a:rP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20440"/>
            <a:ext cx="457200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FDBE8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FADC2"/>
                </a:solidFill>
                <a:latin typeface="Segoe UI"/>
              </a:rPr>
              <a:t>Khaled Noaman  •  200303812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ADC2"/>
                </a:solidFill>
                <a:latin typeface="Segoe UI"/>
              </a:rPr>
              <a:t>CENG 455  •  Istanbul Arel University  •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