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06B6D4"/>
                </a:solidFill>
                <a:latin typeface="Segoe UI"/>
              </a:defRPr>
            </a:pPr>
            <a:r>
              <a:t>AquaClear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4FF"/>
                </a:solidFill>
                <a:latin typeface="Segoe UI"/>
              </a:defRPr>
            </a:pPr>
            <a:r>
              <a:t>Underwater Image Enhancement &amp; Color 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0F4FF"/>
                </a:solidFill>
                <a:latin typeface="Segoe UI"/>
              </a:defRPr>
            </a:pPr>
            <a:r>
              <a:t>Khaled Noaman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Image Processing Course • Istanbul Arel University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The Problem: Underwater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Why do underwater photos look bad?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36576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F4444"/>
                </a:solidFill>
                <a:latin typeface="Segoe UI"/>
              </a:defRPr>
            </a:pPr>
            <a:r>
              <a:t>Color Attenuation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• Water absorbs light depending on wavelength.</a:t>
            </a:r>
            <a:br/>
            <a:br/>
            <a:r>
              <a:t>• Red disappears first (at ~5m).</a:t>
            </a:r>
            <a:br/>
            <a:br/>
            <a:r>
              <a:t>• Results in strong blue/green color cast.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36576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  <a:latin typeface="Segoe UI"/>
              </a:defRPr>
            </a:pPr>
            <a:r>
              <a:t>Scattering &amp; Haze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5603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• Particles in water scatter light.</a:t>
            </a:r>
            <a:br/>
            <a:br/>
            <a:r>
              <a:t>• Creates a foggy 'haze' effect.</a:t>
            </a:r>
            <a:br/>
            <a:br/>
            <a:r>
              <a:t>• Lowers overall visibility and contrast.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200400" cy="36576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4FF"/>
                </a:solidFill>
                <a:latin typeface="Segoe UI"/>
              </a:defRPr>
            </a:pPr>
            <a:r>
              <a:t>Low Contrast &amp; Blur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• Loss of high-frequency details.</a:t>
            </a:r>
            <a:br/>
            <a:br/>
            <a:r>
              <a:t>• Edges become soft.</a:t>
            </a:r>
            <a:br/>
            <a:br/>
            <a:r>
              <a:t>• Floating marine snow adds noise.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The Solution: Classical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No Neural Networks, just Math and Matrices.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0152" cy="1828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  <a:latin typeface="Segoe UI"/>
              </a:defRPr>
            </a:pPr>
            <a:r>
              <a:t>Why Classical IP?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• Fast and lightweight (runs in milliseconds).</a:t>
            </a:r>
            <a:br/>
            <a:r>
              <a:t>• Highly interpretable (we know exactly what every parameter does).</a:t>
            </a:r>
            <a:br/>
            <a:r>
              <a:t>• Deterministic results (no hallucinations).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10360152" cy="1828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3891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4FF"/>
                </a:solidFill>
                <a:latin typeface="Segoe UI"/>
              </a:defRPr>
            </a:pPr>
            <a:r>
              <a:t>The AquaClear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3776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1. Noise Reduction → 2. Color Correction → 3. Dehazing → 4. Contrast → 5. Sharpening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Physics of Underwater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Why do colors disappear?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937760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Segoe UI"/>
              </a:defRPr>
            </a:pPr>
            <a:r>
              <a:t>Wavelength Absorption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Water acts as a dense filter. It absorbs different wavelengths at different depths:</a:t>
            </a:r>
            <a:br/>
            <a:br/>
            <a:r>
              <a:t>• &lt;b&gt;Red (650nm)&lt;/b&gt;: Disappears first (3-5 meters).</a:t>
            </a:r>
            <a:br/>
            <a:r>
              <a:t>• &lt;b&gt;Orange/Yellow&lt;/b&gt;: Fades by 15-20 meters.</a:t>
            </a:r>
            <a:br/>
            <a:r>
              <a:t>• &lt;b&gt;Blue/Green&lt;/b&gt;: Penetrates the deepest.</a:t>
            </a:r>
            <a:br/>
            <a:br/>
            <a:r>
              <a:t>Result = The classic 'washed-out blue' tint.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4937760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4FF"/>
                </a:solidFill>
                <a:latin typeface="Segoe UI"/>
              </a:defRPr>
            </a:pPr>
            <a:r>
              <a:t>The Jaffe-McGlamery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Total Image = Direct Signal + Forward Scatter + Backscatter</a:t>
            </a:r>
            <a:br/>
            <a:br/>
            <a:r>
              <a:t>• &lt;b&gt;Direct Signal&lt;/b&gt;: The clear light from the object.</a:t>
            </a:r>
            <a:br/>
            <a:r>
              <a:t>• &lt;b&gt;Forward Scatter&lt;/b&gt;: Blurs the edges.</a:t>
            </a:r>
            <a:br/>
            <a:r>
              <a:t>• &lt;b&gt;Backscatter&lt;/b&gt;: Hit particles and bounces back (Haze).</a:t>
            </a:r>
            <a:br/>
            <a:br/>
            <a:r>
              <a:t>Our algorithms try to reverse this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Digital Image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Applied theory in the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937760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Color Spaces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• &lt;b&gt;RGB&lt;/b&gt;: Base matrices. Used for display and Gray World compensation.</a:t>
            </a:r>
            <a:br/>
            <a:r>
              <a:t>• &lt;b&gt;LAB (CIE1976)&lt;/b&gt;: Separates Luminance (L) from Color (A,B). Used for Contrast Enhancement (CLAHE) to preserve perceived hues.</a:t>
            </a:r>
            <a:br/>
            <a:r>
              <a:t>• &lt;b&gt;HSV&lt;/b&gt;: Used for calculating colorfulness and saturation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4937760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4FF"/>
                </a:solidFill>
                <a:latin typeface="Segoe UI"/>
              </a:defRPr>
            </a:pPr>
            <a:r>
              <a:t>Spatial Domain Filtering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Modifying pixels based on their neighborhoods.</a:t>
            </a:r>
            <a:br/>
            <a:br/>
            <a:r>
              <a:t>• &lt;b&gt;Convolution&lt;/b&gt;: Using n x n spatial kernels.</a:t>
            </a:r>
            <a:br/>
            <a:r>
              <a:t>• &lt;b&gt;Laplacian (2nd derivative)&lt;/b&gt;: For edge detection.</a:t>
            </a:r>
            <a:br/>
            <a:r>
              <a:t>• &lt;b&gt;Gaussian Filters&lt;/b&gt;: For smoothing.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Deep Dive: Noise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Removing marine snow and sensor noise.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0152" cy="1828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Segoe UI"/>
              </a:defRPr>
            </a:pPr>
            <a:r>
              <a:t>The Problem: Non-Linear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Standard linear filters (like Mean or Gaussian blur) will reduce noise, but they ruin the image by blurring the edges. Underwater images already suffer from blur due to forward scattering.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10360152" cy="1828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The Solution: Bilateral Filtering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Bilateral filters combine a spatial Gaussian (distance) with a range Gaussian (intensity difference).</a:t>
            </a:r>
            <a:br/>
            <a:r>
              <a:t>• Smooths flat regions (removes noise).</a:t>
            </a:r>
            <a:br/>
            <a:r>
              <a:t>• Stops smoothing when it detects a sharp intensity jump (keeps edges sharp).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Live Demo: AquaClear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How the application processes images.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2743200"/>
            <a:ext cx="1828800" cy="1828800"/>
          </a:xfrm>
          <a:prstGeom prst="ellipse">
            <a:avLst/>
          </a:prstGeom>
          <a:solidFill>
            <a:srgbClr val="1A1F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383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4FF"/>
                </a:solidFill>
                <a:latin typeface="Segoe UI"/>
              </a:defRPr>
            </a:pPr>
            <a:r>
              <a:t>1</a:t>
            </a:r>
            <a:br/>
            <a:r>
              <a:t>Upload</a:t>
            </a:r>
          </a:p>
        </p:txBody>
      </p:sp>
      <p:sp>
        <p:nvSpPr>
          <p:cNvPr id="7" name="Oval 6"/>
          <p:cNvSpPr/>
          <p:nvPr/>
        </p:nvSpPr>
        <p:spPr>
          <a:xfrm>
            <a:off x="5175504" y="2743200"/>
            <a:ext cx="1828800" cy="1828800"/>
          </a:xfrm>
          <a:prstGeom prst="ellipse">
            <a:avLst/>
          </a:prstGeom>
          <a:solidFill>
            <a:srgbClr val="1A1F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75504" y="3383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2</a:t>
            </a:r>
            <a:br/>
            <a:r>
              <a:t>Analyze</a:t>
            </a:r>
          </a:p>
        </p:txBody>
      </p:sp>
      <p:sp>
        <p:nvSpPr>
          <p:cNvPr id="9" name="Oval 8"/>
          <p:cNvSpPr/>
          <p:nvPr/>
        </p:nvSpPr>
        <p:spPr>
          <a:xfrm>
            <a:off x="8531352" y="2743200"/>
            <a:ext cx="1828800" cy="1828800"/>
          </a:xfrm>
          <a:prstGeom prst="ellipse">
            <a:avLst/>
          </a:prstGeom>
          <a:solidFill>
            <a:srgbClr val="1A1F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1352" y="3383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4FF"/>
                </a:solidFill>
                <a:latin typeface="Segoe UI"/>
              </a:defRPr>
            </a:pPr>
            <a:r>
              <a:t>3</a:t>
            </a:r>
            <a:br/>
            <a:r>
              <a:t>Enhance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840480" y="3474720"/>
            <a:ext cx="914400" cy="36576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223760" y="3474720"/>
            <a:ext cx="914400" cy="36576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Step 1: Auto-Analysis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Detecting physical properties from pixels.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91295" y="274320"/>
            <a:ext cx="2743200" cy="457200"/>
          </a:xfrm>
          <a:prstGeom prst="roundRect">
            <a:avLst/>
          </a:prstGeom>
          <a:solidFill>
            <a:srgbClr val="1A1F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91295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Demo Step 1/4: Auto-Analyze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0360152" cy="13716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Diagnostic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Before applying filters, the backend calculates global metrics:</a:t>
            </a:r>
            <a:br/>
            <a:r>
              <a:t>• &lt;b&gt;Color Shift:&lt;/b&gt; Mean(B) - Mean(R) &gt; Threshold indicates depth.</a:t>
            </a:r>
            <a:br/>
            <a:r>
              <a:t>• &lt;b&gt;Contrast:&lt;/b&gt; Global standard deviation (if &lt; 30, needs heavy CLAHE).</a:t>
            </a:r>
            <a:br/>
            <a:r>
              <a:t>• &lt;b&gt;Blur:&lt;/b&gt; Variance of Laplacian (if &lt; 100, needs high unsharp strength).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57600"/>
            <a:ext cx="10360152" cy="2286000"/>
          </a:xfrm>
          <a:prstGeom prst="roundRect">
            <a:avLst/>
          </a:prstGeom>
          <a:solidFill>
            <a:srgbClr val="1A1F3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4FF"/>
                </a:solidFill>
                <a:latin typeface="Segoe UI"/>
              </a:defRPr>
            </a:pPr>
            <a:r>
              <a:t>Code Snippet: Dynamic Parameterization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  <a:latin typeface="Segoe UI"/>
              </a:defRPr>
            </a:pPr>
            <a:r>
              <a:t>laplacian_var = cv2.Laplacian(gray, cv2.CV_64F).var()</a:t>
            </a:r>
            <a:br/>
            <a:br/>
            <a:r>
              <a:t>if laplacian_var &lt; 100:</a:t>
            </a:r>
            <a:br/>
            <a:r>
              <a:t>    settings["unsharp_strength"] = 2.5   # Very blurry, strong sharpening</a:t>
            </a:r>
            <a:br/>
            <a:r>
              <a:t>    settings["noise_method"] = "nlm"     # Use Non-Local Means (heavy noise)</a:t>
            </a:r>
            <a:br/>
            <a:r>
              <a:t>elif laplacian_var &lt; 300:</a:t>
            </a:r>
            <a:br/>
            <a:r>
              <a:t>    settings["unsharp_strength"] = 1.5   # Standard sharpening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Step 2: Color Shift &amp; Transmission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Fixing attenuation &amp; scattering.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91295" y="274320"/>
            <a:ext cx="2743200" cy="457200"/>
          </a:xfrm>
          <a:prstGeom prst="roundRect">
            <a:avLst/>
          </a:prstGeom>
          <a:solidFill>
            <a:srgbClr val="1A1F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91295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Demo Step 2/4: Color &amp; Dehaze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4937760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Gray World Theorem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Hypothesis: Given an image with enough variety, the average value of R, G, and B should be equal (neutral gray).</a:t>
            </a:r>
            <a:br/>
            <a:br/>
            <a:r>
              <a:t>Implementation:</a:t>
            </a:r>
            <a:br/>
            <a:r>
              <a:t>1. Calculate mean of R, G, B.</a:t>
            </a:r>
            <a:br/>
            <a:r>
              <a:t>2. Find global average.</a:t>
            </a:r>
            <a:br/>
            <a:r>
              <a:t>3. Scale up deficient channels (Red) by (Avg / Mean_R).</a:t>
            </a:r>
            <a:br/>
            <a:r>
              <a:t>Optional: Channel compensation blends Red based on Green.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4937760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Segoe UI"/>
              </a:defRPr>
            </a:pPr>
            <a:r>
              <a:t>Dark Channel Prior (DCP)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Breakthrough algorithm (He et al.).</a:t>
            </a:r>
            <a:br/>
            <a:br/>
            <a:r>
              <a:t>1. &lt;b&gt;Dark Channel:&lt;/b&gt; Minimum filter across R,G,B locally.</a:t>
            </a:r>
            <a:br/>
            <a:r>
              <a:t>2. &lt;b&gt;A-light:&lt;/b&gt; Use brightest 0.1% of Dark Channel pixels to estimate Atmospheric Light.</a:t>
            </a:r>
            <a:br/>
            <a:r>
              <a:t>3. &lt;b&gt;Transmission Map (t):&lt;/b&gt; Calculates scattering distance.</a:t>
            </a:r>
            <a:br/>
            <a:r>
              <a:t>4. &lt;b&gt;Recovery:&lt;/b&gt; J = (I - A)/max(t, 0.1) + 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Step 3: Edge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Making features distinct.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91295" y="274320"/>
            <a:ext cx="2743200" cy="457200"/>
          </a:xfrm>
          <a:prstGeom prst="roundRect">
            <a:avLst/>
          </a:prstGeom>
          <a:solidFill>
            <a:srgbClr val="1A1F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91295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Demo Step 3/4: Details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0360152" cy="1828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CLAHE vs Global Histogram Equalization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• &lt;b&gt;Global HE:&lt;/b&gt; Spreads all pixel intensities across the full 0-255 range. It washes out scenes and destroys local contrast.</a:t>
            </a:r>
            <a:br/>
            <a:r>
              <a:t>• &lt;b&gt;CLAHE:&lt;/b&gt; Divides image into 8x8 blocks. Equalizes locally. Clips peaks in histograms to prevent noise blowout. Re-interpolates using bilinear interpolation to remove grid 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14800"/>
            <a:ext cx="10360152" cy="1828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4FF"/>
                </a:solidFill>
                <a:latin typeface="Segoe UI"/>
              </a:defRPr>
            </a:pPr>
            <a:r>
              <a:t>Unsharp Masking (Frequency Domain)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High-frequency data = edges. Low-frequency data = flat colors.</a:t>
            </a:r>
            <a:br/>
            <a:r>
              <a:t>1. Create Low-Pass image (Gaussian Blur).</a:t>
            </a:r>
            <a:br/>
            <a:r>
              <a:t>2. High-Pass (Edges) = Original - Low-Pass.</a:t>
            </a:r>
            <a:br/>
            <a:r>
              <a:t>3. Sharpened = Original + (Strength * High-Pass).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Step 4: Objective Quality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Math measuring quality.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91295" y="274320"/>
            <a:ext cx="2743200" cy="457200"/>
          </a:xfrm>
          <a:prstGeom prst="roundRect">
            <a:avLst/>
          </a:prstGeom>
          <a:solidFill>
            <a:srgbClr val="1A1F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91295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Demo Step 4/4: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4937760" cy="19202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PSNR (Peak Signal-to-Noise)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Measures reconstruction fidelity. 10 * log10(MAX² / Mean Squared Error). Values 20-40dB are typical; higher means less structural damage from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4937760" cy="19202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SSIM (Structural Similarity)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Perceptual metric. Measures structural information change rather than absolute errors in pixels. Considers Luminance, Contrast, and Structure independently.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23360"/>
            <a:ext cx="4937760" cy="19202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4FF"/>
                </a:solidFill>
                <a:latin typeface="Segoe UI"/>
              </a:defRPr>
            </a:pPr>
            <a:r>
              <a:t>UCIQE (Underwater Color Image Quality)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Linear combination of standard deviation of chroma, avg saturation, and contrast of luminance. Designed specifically to measure underwater un-blurring.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023360"/>
            <a:ext cx="4937760" cy="19202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Shannon Entropy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663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Measures information content/richness via histogram probability distribution. Enhancement should dramatically increase total entropy.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Complete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Production-ready Web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0152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2286000" cy="1371600"/>
          </a:xfrm>
          <a:prstGeom prst="rect">
            <a:avLst/>
          </a:prstGeom>
          <a:solidFill>
            <a:srgbClr val="0A0E1A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4FF"/>
                </a:solidFill>
                <a:latin typeface="Segoe UI"/>
              </a:defRPr>
            </a:pPr>
            <a:r>
              <a:t>User Interface</a:t>
            </a:r>
            <a:br/>
            <a:r>
              <a:t>(HTML/CSS/JS)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40480" y="3200400"/>
            <a:ext cx="731520" cy="45720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2743200"/>
            <a:ext cx="2286000" cy="137160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Node.js Server</a:t>
            </a:r>
            <a:br/>
            <a:r>
              <a:t>(Express/Multer)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23760" y="3200400"/>
            <a:ext cx="731520" cy="45720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2743200"/>
            <a:ext cx="2286000" cy="1371600"/>
          </a:xfrm>
          <a:prstGeom prst="rect">
            <a:avLst/>
          </a:prstGeom>
          <a:solidFill>
            <a:srgbClr val="0A0E1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Python Engine</a:t>
            </a:r>
            <a:br/>
            <a:r>
              <a:t>(OpenCV/NumPy)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• Client interacts with stateless API.</a:t>
            </a:r>
            <a:br/>
            <a:r>
              <a:t>• Node.js handles HTTP parsing and temporary file storage.</a:t>
            </a:r>
            <a:br/>
            <a:r>
              <a:t>• Python is invoked via Subprocesses (JSON payload in/out). Data returned via Base64 Strings.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Visual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Before &amp; After Comparisons from the App.</a:t>
            </a:r>
          </a:p>
        </p:txBody>
      </p:sp>
      <p:pic>
        <p:nvPicPr>
          <p:cNvPr id="5" name="Picture 4" descr="coral_ree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017520" cy="20104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Coral Reef (Raw)</a:t>
            </a:r>
          </a:p>
        </p:txBody>
      </p:sp>
      <p:pic>
        <p:nvPicPr>
          <p:cNvPr id="7" name="Picture 6" descr="jellyfi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017520" cy="20255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Jellyfish (Raw)</a:t>
            </a:r>
          </a:p>
        </p:txBody>
      </p:sp>
      <p:pic>
        <p:nvPicPr>
          <p:cNvPr id="9" name="Picture 8" descr="deep_oce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828800"/>
            <a:ext cx="3017520" cy="20104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Deep Ocean (Raw)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F4FF"/>
                </a:solidFill>
                <a:latin typeface="Segoe UI"/>
              </a:defRPr>
            </a:pPr>
            <a:r>
              <a:t>The AquaClear pipeline automatically detects the dense blue/green tint in these raw inputs, calculates the atmospheric transmission map, and restores the lost reds and contrast in &lt; 0.5 seconds.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Architectural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How the pieces fit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36576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  <a:latin typeface="Segoe UI"/>
              </a:defRPr>
            </a:pPr>
            <a:r>
              <a:t>Frontend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• Vanilla HTML/CSS/JS (Flat Design)</a:t>
            </a:r>
            <a:br/>
            <a:br/>
            <a:r>
              <a:t>• Data-theme (Dark/Light)</a:t>
            </a:r>
            <a:br/>
            <a:br/>
            <a:r>
              <a:t>• LocalStorage for theme persistence</a:t>
            </a:r>
            <a:br/>
            <a:br/>
            <a:r>
              <a:t>• No frontend frameworks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36576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Web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5603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• Node.js + Express</a:t>
            </a:r>
            <a:br/>
            <a:br/>
            <a:r>
              <a:t>• Multer for multipart form uploads</a:t>
            </a:r>
            <a:br/>
            <a:br/>
            <a:r>
              <a:t>• Subprocesses to trigger Python via CLI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200400" cy="36576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4FF"/>
                </a:solidFill>
                <a:latin typeface="Segoe UI"/>
              </a:defRPr>
            </a:pPr>
            <a:r>
              <a:t>IP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• Python 3.10</a:t>
            </a:r>
            <a:br/>
            <a:br/>
            <a:r>
              <a:t>• OpenCV (cv2) for image matrices</a:t>
            </a:r>
            <a:br/>
            <a:br/>
            <a:r>
              <a:t>• NumPy for fast math</a:t>
            </a:r>
            <a:br/>
            <a:br/>
            <a:r>
              <a:t>• Base64 encode for returning images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UZEM Forum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Required component.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0152" cy="13716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  <a:latin typeface="Segoe UI"/>
              </a:defRPr>
            </a:pPr>
            <a:r>
              <a:t>Question: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4FF"/>
                </a:solidFill>
                <a:latin typeface="Segoe UI"/>
              </a:defRPr>
            </a:pPr>
            <a:r>
              <a:t>Why is CLAHE (Contrast Limited Adaptive Histogram Equalization) applied to the Luminance (L) channel of the LAB color space rather than applying standard Histogram Equalization to RGB channels?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657600"/>
            <a:ext cx="10360152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  <a:latin typeface="Segoe UI"/>
              </a:defRPr>
            </a:pPr>
            <a:r>
              <a:t>Answer: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Applying equalization directly to R, G, and B changes the color ratios, which alters the original hues (color distortion). By converting to LAB space, we separate Lightness (L) from color data (A, B). Applying CLAHE only to the L channel boosts contrast without changing the actual colors of the fish or water. The 'Limited' part of CLAHE also prevents flat areas like open water from becoming too noisy.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Final thoughts.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60152" cy="4114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  <a:latin typeface="Segoe UI"/>
              </a:defRPr>
            </a:pPr>
            <a:r>
              <a:t>Summary of Work: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• Successfully built an underwater image enhancement pipeline using 100% classical Image Processing.</a:t>
            </a:r>
            <a:br/>
            <a:br/>
            <a:r>
              <a:t>• Developed an intuitive Node.js/HTML web application featuring Auto-Analysis and Dark Mode.</a:t>
            </a:r>
            <a:br/>
            <a:br/>
            <a:r>
              <a:t>• Demonstrated that complex CNNs aren't always necessary for image restoration if mathematical priors (like Dark Channel) are utilized.</a:t>
            </a:r>
            <a:br/>
            <a:br/>
            <a:r>
              <a:t>Thanks for listening!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